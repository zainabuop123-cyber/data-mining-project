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5"/>
                </a:solidFill>
                <a:latin typeface="Arial"/>
              </a:rPr>
              <a:t>Waste Growth Trend (2020–2024)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MSW (×1000 Tons)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2020-Q1</c:v>
                  </c:pt>
                  <c:pt idx="1">
                    <c:v>2020-Q2</c:v>
                  </c:pt>
                  <c:pt idx="2">
                    <c:v>2020-Q3</c:v>
                  </c:pt>
                  <c:pt idx="3">
                    <c:v>2020-Q4</c:v>
                  </c:pt>
                  <c:pt idx="4">
                    <c:v>2021-Q1</c:v>
                  </c:pt>
                  <c:pt idx="5">
                    <c:v>2021-Q2</c:v>
                  </c:pt>
                  <c:pt idx="6">
                    <c:v>2021-Q3</c:v>
                  </c:pt>
                  <c:pt idx="7">
                    <c:v>2021-Q4</c:v>
                  </c:pt>
                  <c:pt idx="8">
                    <c:v>2022-Q1</c:v>
                  </c:pt>
                  <c:pt idx="9">
                    <c:v>2022-Q2</c:v>
                  </c:pt>
                  <c:pt idx="10">
                    <c:v>2022-Q3</c:v>
                  </c:pt>
                  <c:pt idx="11">
                    <c:v>2022-Q4</c:v>
                  </c:pt>
                  <c:pt idx="12">
                    <c:v>2023-Q1</c:v>
                  </c:pt>
                  <c:pt idx="13">
                    <c:v>2023-Q2</c:v>
                  </c:pt>
                  <c:pt idx="14">
                    <c:v>2023-Q3</c:v>
                  </c:pt>
                  <c:pt idx="15">
                    <c:v>2023-Q4</c:v>
                  </c:pt>
                  <c:pt idx="16">
                    <c:v>2024-Q1</c:v>
                  </c:pt>
                  <c:pt idx="17">
                    <c:v>2024-Q2</c:v>
                  </c:pt>
                  <c:pt idx="18">
                    <c:v>2024-Q3</c:v>
                  </c:pt>
                  <c:pt idx="19">
                    <c:v>2024-Q4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264</c:v>
                </c:pt>
                <c:pt idx="1">
                  <c:v>268</c:v>
                </c:pt>
                <c:pt idx="2">
                  <c:v>272</c:v>
                </c:pt>
                <c:pt idx="3">
                  <c:v>276</c:v>
                </c:pt>
                <c:pt idx="4">
                  <c:v>280</c:v>
                </c:pt>
                <c:pt idx="5">
                  <c:v>285</c:v>
                </c:pt>
                <c:pt idx="6">
                  <c:v>289</c:v>
                </c:pt>
                <c:pt idx="7">
                  <c:v>293</c:v>
                </c:pt>
                <c:pt idx="8">
                  <c:v>298</c:v>
                </c:pt>
                <c:pt idx="9">
                  <c:v>304</c:v>
                </c:pt>
                <c:pt idx="10">
                  <c:v>309</c:v>
                </c:pt>
                <c:pt idx="11">
                  <c:v>315</c:v>
                </c:pt>
                <c:pt idx="12">
                  <c:v>320</c:v>
                </c:pt>
                <c:pt idx="13">
                  <c:v>327</c:v>
                </c:pt>
                <c:pt idx="14">
                  <c:v>334</c:v>
                </c:pt>
                <c:pt idx="15">
                  <c:v>341</c:v>
                </c:pt>
                <c:pt idx="16">
                  <c:v>348</c:v>
                </c:pt>
                <c:pt idx="17">
                  <c:v>355</c:v>
                </c:pt>
                <c:pt idx="18">
                  <c:v>363</c:v>
                </c:pt>
                <c:pt idx="19">
                  <c:v>370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960120"/>
            <a:ext cx="1920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4E"/>
                </a:solidFill>
              </a:rPr>
              <a:t>DATA MINING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Karachi Municipal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Solid Waste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8D5C8"/>
                </a:solidFill>
              </a:rPr>
              <a:t>Using Machine Learning Techniques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72F3D"/>
          </a:solidFill>
          <a:ln w="12700">
            <a:solidFill>
              <a:srgbClr val="072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Submitted by: Zainab Bibi  </a:t>
            </a:r>
            <a:pPr indent="0" marL="0">
              <a:buNone/>
            </a:pPr>
            <a:r>
              <a:rPr lang="en-US" sz="1100" dirty="0">
                <a:solidFill>
                  <a:srgbClr val="A8D5C8"/>
                </a:solidFill>
              </a:rPr>
              <a:t> | Course: Data Mining  |  Dataset: Karachi_Research_Dataset.csv  |  Jan 2020 – Dec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56616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Study?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</a:rPr>
              <a:t>Karachi is Pakistan's largest city.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</a:rPr>
              <a:t>It produces millions of tons of solid waste every year.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</a:rPr>
              <a:t>Predicting monthly waste helps: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Better city planning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Smart resource allocation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Environmental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60520" cy="356616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868680"/>
            <a:ext cx="4160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Dataset at a Glance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292608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Records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60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Time Period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Jan 2020 – Dec 2024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11 original + 3 engineered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Target Variable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Total MSW (Tons/Month)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Missing Values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None (0)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Karachi MSW Prediction  |  Zainab Bibi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Imported 60 months of municipal records (Jan 2020 – Dec 2024) using pandas.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9144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914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3990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Converted dates, extracted Month &amp; Quarter, verified zero missing values.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804672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9144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Exploratory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3990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Created charts to find trends, seasonal patterns, and feature correlations.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157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Added 3 new features: Waste Per Capita, Plastic-to-Total Ratio, Is_Summer.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606040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7157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Model Development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Trained Linear Regression &amp; Random Forest with 5-fold cross-validation.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606040"/>
            <a:ext cx="2743200" cy="160020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7157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E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Measured R², MAE, RMSE. Used K-Means clustering (K=3) for patterns.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Karachi MSW Prediction  |  Zainab Bibi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from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1188720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255K–382K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8"/>
                </a:solidFill>
              </a:rPr>
              <a:t>Tons / Month Range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777240"/>
            <a:ext cx="2651760" cy="1188720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8046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0.57 kg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46120" y="1463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8"/>
                </a:solidFill>
              </a:rPr>
              <a:t>Waste per Person per 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777240"/>
            <a:ext cx="2651760" cy="1188720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8046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8"/>
                </a:solidFill>
              </a:rPr>
              <a:t>Months were Monsoon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74320" y="210312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486400" y="2103120"/>
            <a:ext cx="3383280" cy="265176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176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What the Data Shows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77840" y="26060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</a:rPr>
              <a:t>Waste grew steadily year by year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</a:rPr>
              <a:t>Population is the #1 driver of waste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</a:rPr>
              <a:t>Monsoon months produce more waste (moisture ↑)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</a:rPr>
              <a:t>Plastic waste grew from 41K → 60K tons/month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</a:rPr>
              <a:t>Event months account for 17% of records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Karachi MSW Prediction  |  Zainab Bibi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Performance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291840"/>
          </a:xfrm>
          <a:prstGeom prst="rect">
            <a:avLst/>
          </a:prstGeom>
          <a:solidFill>
            <a:srgbClr val="F0F9F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4E"/>
                </a:solidFill>
              </a:rPr>
              <a:t>⭐ Linear Regression  (WINNER)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645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R²  (Accuracy)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41732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17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0.9984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1645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201168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615 tons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1645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60604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881 tons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200400"/>
            <a:ext cx="1645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Error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320040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&lt; 0.21%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Explains 99.84% of variance — excellent!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822960"/>
            <a:ext cx="4023360" cy="329184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1417320"/>
            <a:ext cx="1645920" cy="457200"/>
          </a:xfrm>
          <a:prstGeom prst="rect">
            <a:avLst/>
          </a:prstGeom>
          <a:solidFill>
            <a:srgbClr val="A0B8BF"/>
          </a:solidFill>
          <a:ln w="12700">
            <a:solidFill>
              <a:srgbClr val="A0B8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R²  (Accuracy)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141732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417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0.8413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2011680"/>
            <a:ext cx="1645920" cy="457200"/>
          </a:xfrm>
          <a:prstGeom prst="rect">
            <a:avLst/>
          </a:prstGeom>
          <a:solidFill>
            <a:srgbClr val="A0B8BF"/>
          </a:solidFill>
          <a:ln w="12700">
            <a:solidFill>
              <a:srgbClr val="A0B8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201168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7,657 tons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983480" y="2606040"/>
            <a:ext cx="1645920" cy="457200"/>
          </a:xfrm>
          <a:prstGeom prst="rect">
            <a:avLst/>
          </a:prstGeom>
          <a:solidFill>
            <a:srgbClr val="A0B8BF"/>
          </a:solidFill>
          <a:ln w="12700">
            <a:solidFill>
              <a:srgbClr val="A0B8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260604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8,775 tons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200400"/>
            <a:ext cx="1645920" cy="457200"/>
          </a:xfrm>
          <a:prstGeom prst="rect">
            <a:avLst/>
          </a:prstGeom>
          <a:solidFill>
            <a:srgbClr val="A0B8BF"/>
          </a:solidFill>
          <a:ln w="12700">
            <a:solidFill>
              <a:srgbClr val="A0B8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Error Rate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320040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~2.6%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37760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Less effective on this small, linear dataset.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Karachi MSW Prediction  |  Zainab Bibi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Clustering &amp; Feature Importance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74904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411480"/>
          </a:xfrm>
          <a:prstGeom prst="rect">
            <a:avLst/>
          </a:prstGeom>
          <a:solidFill>
            <a:srgbClr val="0B3D4E"/>
          </a:solidFill>
          <a:ln w="12700">
            <a:solidFill>
              <a:srgbClr val="0B3D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Clustering  (K = 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Cluster 0  (30 months)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Average non-seasonal months.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Typical population &amp; generation rate.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109728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Cluster 1  (9 months)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High waste — summer &amp; event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with lots of plastic &amp; consumption.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109728" cy="731520"/>
          </a:xfrm>
          <a:prstGeom prst="rect">
            <a:avLst/>
          </a:prstGeom>
          <a:solidFill>
            <a:srgbClr val="5EABC8"/>
          </a:solidFill>
          <a:ln w="12700">
            <a:solidFill>
              <a:srgbClr val="5EA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ABC8"/>
                </a:solidFill>
              </a:rPr>
              <a:t>Cluster 2  (21 months)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Lower waste — cooler, quiet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with below-average generation.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572"/>
                </a:solidFill>
              </a:rPr>
              <a:t>These 3 patterns help plan waste collection resources smartly.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160520" cy="3749040"/>
          </a:xfrm>
          <a:prstGeom prst="rect">
            <a:avLst/>
          </a:prstGeom>
          <a:solidFill>
            <a:srgbClr val="F0F9F6"/>
          </a:solidFill>
          <a:ln w="12700">
            <a:solidFill>
              <a:srgbClr val="C8E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04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Features  (Both Models Agree)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</a:rPr>
              <a:t>Generation Rate (kg/capita/day)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627632"/>
            <a:ext cx="3749040" cy="219456"/>
          </a:xfrm>
          <a:prstGeom prst="rect">
            <a:avLst/>
          </a:prstGeom>
          <a:solidFill>
            <a:srgbClr val="D5EDE7"/>
          </a:solidFill>
          <a:ln w="12700">
            <a:solidFill>
              <a:srgbClr val="D5ED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627632"/>
            <a:ext cx="3561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6276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95%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975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</a:rPr>
              <a:t>Population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249424"/>
            <a:ext cx="3749040" cy="219456"/>
          </a:xfrm>
          <a:prstGeom prst="rect">
            <a:avLst/>
          </a:prstGeom>
          <a:solidFill>
            <a:srgbClr val="D5EDE7"/>
          </a:solidFill>
          <a:ln w="12700">
            <a:solidFill>
              <a:srgbClr val="D5ED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249424"/>
            <a:ext cx="3299155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2494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88%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</a:rPr>
              <a:t>Waste Per Capita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3749040" cy="219456"/>
          </a:xfrm>
          <a:prstGeom prst="rect">
            <a:avLst/>
          </a:prstGeom>
          <a:solidFill>
            <a:srgbClr val="D5EDE7"/>
          </a:solidFill>
          <a:ln w="12700">
            <a:solidFill>
              <a:srgbClr val="D5ED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871216"/>
            <a:ext cx="2811780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28712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75%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</a:rPr>
              <a:t>Month / Quarter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493008"/>
            <a:ext cx="3749040" cy="219456"/>
          </a:xfrm>
          <a:prstGeom prst="rect">
            <a:avLst/>
          </a:prstGeom>
          <a:solidFill>
            <a:srgbClr val="D5EDE7"/>
          </a:solidFill>
          <a:ln w="12700">
            <a:solidFill>
              <a:srgbClr val="D5ED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493008"/>
            <a:ext cx="2324405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34930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62%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</a:rPr>
              <a:t>Is_Monsoon / Is_Summer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4114800"/>
            <a:ext cx="3749040" cy="219456"/>
          </a:xfrm>
          <a:prstGeom prst="rect">
            <a:avLst/>
          </a:prstGeom>
          <a:solidFill>
            <a:srgbClr val="D5EDE7"/>
          </a:solidFill>
          <a:ln w="12700">
            <a:solidFill>
              <a:srgbClr val="D5ED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4114800"/>
            <a:ext cx="1799539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1148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48%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</a:rPr>
              <a:t>Karachi MSW Prediction  |  Zainab Bibi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C8"/>
                </a:solidFill>
              </a:rPr>
              <a:t>What did we learn?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No missing data — dataset was clean and ready to use.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🏆  Linear Regression was the best model with 99.84% accuracy and only 615-ton average error.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2374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🌳  Random Forest scored 84% — less suited for this small, linear, time-driven dataset.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145536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553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🗂️  K-Means found 3 clear waste patterns: routine, high-waste, and low-waste months.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67328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673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📊  Population and daily generation rate are the most important predictors of waste.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389120"/>
            <a:ext cx="8321040" cy="530352"/>
          </a:xfrm>
          <a:prstGeom prst="rect">
            <a:avLst/>
          </a:prstGeom>
          <a:solidFill>
            <a:srgbClr val="0D4A60"/>
          </a:solidFill>
          <a:ln w="12700">
            <a:solidFill>
              <a:srgbClr val="1A66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891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🚀  Future work: Try LSTM/deep learning with more data for even better long-term predictions.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Karachi MSW Prediction</dc:title>
  <dc:subject>PptxGenJS Presentation</dc:subject>
  <dc:creator>PptxGenJS</dc:creator>
  <cp:lastModifiedBy>PptxGenJS</cp:lastModifiedBy>
  <cp:revision>1</cp:revision>
  <dcterms:created xsi:type="dcterms:W3CDTF">2026-04-17T07:24:57Z</dcterms:created>
  <dcterms:modified xsi:type="dcterms:W3CDTF">2026-04-17T07:24:57Z</dcterms:modified>
</cp:coreProperties>
</file>